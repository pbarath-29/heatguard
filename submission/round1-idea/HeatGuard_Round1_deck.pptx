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Heat is now a health risk for the people Singapore is ageing into: seniors living alone, in small rental flats, with limited mobility. NEA already publishes live heat-stress readings, but nothing links that hazard to who is vulnerable, so outreach happens after the heat, not before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list is built: (1) a model trained on NEA heat-stress, temperature and humidity history plus NEA's own forecast predicts tomorrow's afternoon heat stress at each station; (2) each subzone takes a distance-weighted average of nearby stations and is put in NEA's Low/Moderate/High band; (3) a vulnerability score per subzone uses Census 2020: seniors 65+ and 1-2-room flats by subzone, one-person households and members with daily-activity difficulty by planning area, plus distance to the nearest air-conditioned Community Club or library; (4) rank = heat band x vulnerability; (5) the top reason maps to an action through a fixed rulebook. The list is area-level only; coordinators apply it to their own client lists. Limits we state openly: Census 2020 is six years old, the living-alone and mobility tables are for all ages and only by planning area, and only 30 stations measure heat stress.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story: at 4 pm a coordinator opens HeatGuard. The NOW tab shows live heat stress. The TOMORROW tab shows the risk map and the ranked check-in list with reasons and actions. WHY HERE? explains any area's rank and shows how accurate past forecasts were. Genie answers follow-up questions; the Foundation Model API drafts a plain-language advisory. One pipeline end to end: scheduled ingestion into Unity Catalog, a Lakeflow Declarative Pipeline with quality checks and spatial joins, MLflow-tracked models, and outputs a non-technical coordinator can act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why it matters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7132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1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HeatGuard</a:t>
            </a:r>
            <a:pPr algn="r" indent="0" marL="0">
              <a:buNone/>
            </a:pPr>
            <a:r>
              <a:rPr lang="en-US" sz="1400" dirty="0">
                <a:solidFill>
                  <a:srgbClr val="6B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B1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2834640" cy="420624"/>
          </a:xfrm>
          <a:prstGeom prst="roundRect">
            <a:avLst>
              <a:gd name="adj" fmla="val 17391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7160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 </a:t>
            </a:r>
            <a:pPr indent="0" marL="0">
              <a:buNone/>
            </a:pPr>
            <a:r>
              <a:rPr lang="en-US" sz="1300" b="1" dirty="0">
                <a:solidFill>
                  <a:srgbClr val="11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Knock Before Noon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66160" y="1371600"/>
            <a:ext cx="8074152" cy="420624"/>
          </a:xfrm>
          <a:prstGeom prst="roundRect">
            <a:avLst>
              <a:gd name="adj" fmla="val 17391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3320" y="137160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 </a:t>
            </a:r>
            <a:pPr indent="0" marL="0">
              <a:buNone/>
            </a:pPr>
            <a:r>
              <a:rPr lang="en-US" sz="1300" b="1" dirty="0">
                <a:solidFill>
                  <a:srgbClr val="11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 — HeatGuard: Urban heat risk mapping for vulnerable communities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057400"/>
            <a:ext cx="6903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IN ONE SENTENCE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331720"/>
            <a:ext cx="6903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Singapore’s heat is getting more dangerous for the seniors least able to cope, but today’s advisories say how hot it will be, not who needs a check-in, so outreach teams react during the heat instead of before it.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566160"/>
            <a:ext cx="6903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AFFECTED, AND HOW BADLY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840480"/>
            <a:ext cx="6903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2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Seniors living alone: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22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87,200 one-person households aged 65+ in 2024, double the 42,100 of 2014.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2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Seniors in 1–2-room flats or with mobility limits: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22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 able to cool down or reach help (Census 2020 tables).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2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Eldercare outreach teams: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22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early warning of which areas to prioritise.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120640"/>
            <a:ext cx="6903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 NOW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394960"/>
            <a:ext cx="6903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was Singapore’s hottest year on record; </a:t>
            </a:r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22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heat-illness ED cases rose 42%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22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(280 → 398).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is the </a:t>
            </a:r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22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of Climate Adaptation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22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the year Singapore turns super-aged; a S$40m heat-resilience programme names the elderly a priority.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818120" y="2057400"/>
            <a:ext cx="3824935" cy="1280160"/>
          </a:xfrm>
          <a:prstGeom prst="roundRect">
            <a:avLst>
              <a:gd name="adj" fmla="val 7143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92440" y="2167128"/>
            <a:ext cx="3367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87,200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788920"/>
            <a:ext cx="33677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seniors aged 65+ living alone (2024)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092440" y="3026664"/>
            <a:ext cx="33677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2× in ten years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818120" y="3502152"/>
            <a:ext cx="3824935" cy="1280160"/>
          </a:xfrm>
          <a:prstGeom prst="roundRect">
            <a:avLst>
              <a:gd name="adj" fmla="val 7143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92440" y="3611880"/>
            <a:ext cx="3367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+42%</a:t>
            </a:r>
            <a:endParaRPr lang="en-US" sz="3600" dirty="0"/>
          </a:p>
        </p:txBody>
      </p:sp>
      <p:sp>
        <p:nvSpPr>
          <p:cNvPr id="22" name="Text 20"/>
          <p:cNvSpPr txBox="1"/>
          <p:nvPr/>
        </p:nvSpPr>
        <p:spPr>
          <a:xfrm>
            <a:off x="8092440" y="4233672"/>
            <a:ext cx="33677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heat-illness ED cases, 2024 → 2025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092440" y="4471416"/>
            <a:ext cx="33677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280 → 398 cases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818120" y="4946904"/>
            <a:ext cx="3824935" cy="1280160"/>
          </a:xfrm>
          <a:prstGeom prst="roundRect">
            <a:avLst>
              <a:gd name="adj" fmla="val 7143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92440" y="5056632"/>
            <a:ext cx="3367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in 5</a:t>
            </a:r>
            <a:endParaRPr lang="en-US" sz="3600" dirty="0"/>
          </a:p>
        </p:txBody>
      </p:sp>
      <p:sp>
        <p:nvSpPr>
          <p:cNvPr id="26" name="Text 24"/>
          <p:cNvSpPr txBox="1"/>
          <p:nvPr/>
        </p:nvSpPr>
        <p:spPr>
          <a:xfrm>
            <a:off x="8092440" y="5678424"/>
            <a:ext cx="33677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residents aged 65+ in 2026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092440" y="5916168"/>
            <a:ext cx="33677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Singapore becomes super-aged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0080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MOH parliamentary reply (Jan 2026), seniors living alone; MOH via The Straits Times (2026), heat-illness ED cases; MSE Year of Climate Adaptation 2026; DAISI problem brief B1.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8899855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DAISI Challenge Singapore 2026  ·  1/3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&amp; data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7132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1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HeatGuard</a:t>
            </a:r>
            <a:pPr algn="r" indent="0" marL="0">
              <a:buNone/>
            </a:pPr>
            <a:r>
              <a:rPr lang="en-US" sz="1400" dirty="0">
                <a:solidFill>
                  <a:srgbClr val="6B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B1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94415" cy="896112"/>
          </a:xfrm>
          <a:prstGeom prst="roundRect">
            <a:avLst>
              <a:gd name="adj" fmla="val 10204"/>
            </a:avLst>
          </a:prstGeom>
          <a:solidFill>
            <a:srgbClr val="112530"/>
          </a:solidFill>
          <a:ln w="12700">
            <a:solidFill>
              <a:srgbClr val="11253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4173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8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 IN ONE SENTENCE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673352"/>
            <a:ext cx="105457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afternoon, HeatGuard forecasts tomorrow’s heat stress for each of Singapore’s ~330 subzones, combines it with who lives there, and tells outreach teams where to check on seniors first, and why.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395728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USES IT, AND WHAT DECISION IT CHANGES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706624"/>
            <a:ext cx="329184" cy="329184"/>
          </a:xfrm>
          <a:prstGeom prst="ellipse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779776"/>
            <a:ext cx="182880" cy="18288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987552" y="2679192"/>
            <a:ext cx="5321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Ageing Centre coordinators</a:t>
            </a:r>
            <a:pPr indent="0" marL="0">
              <a:buNone/>
            </a:pPr>
            <a:r>
              <a:rPr lang="en-US" sz="1100" dirty="0">
                <a:solidFill>
                  <a:srgbClr val="22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which clients to call first, before tomorrow’s peak heat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3108960"/>
            <a:ext cx="329184" cy="329184"/>
          </a:xfrm>
          <a:prstGeom prst="ellipse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3182112"/>
            <a:ext cx="182880" cy="18288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987552" y="3081528"/>
            <a:ext cx="5321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 Generation Office ambassadors</a:t>
            </a:r>
            <a:pPr indent="0" marL="0">
              <a:buNone/>
            </a:pPr>
            <a:r>
              <a:rPr lang="en-US" sz="1100" dirty="0">
                <a:solidFill>
                  <a:srgbClr val="22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which neighbourhoods get door-knock rounds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3511296"/>
            <a:ext cx="329184" cy="329184"/>
          </a:xfrm>
          <a:prstGeom prst="ellipse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584448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87552" y="3483864"/>
            <a:ext cx="5321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Clubs (People’s Association)</a:t>
            </a:r>
            <a:pPr indent="0" marL="0">
              <a:buNone/>
            </a:pPr>
            <a:r>
              <a:rPr lang="en-US" sz="1100" dirty="0">
                <a:solidFill>
                  <a:srgbClr val="22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where to open as a cool rest spot, and when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3913632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HeatGuard says where and when; each team’s own client list says who. No personal data is used.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4224528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 WE WILL USE  (all on data.gov.sg)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80560"/>
          <a:ext cx="5760720" cy="914400"/>
        </p:xfrm>
        <a:graphic>
          <a:graphicData uri="http://schemas.openxmlformats.org/drawingml/2006/table">
            <a:tbl>
              <a:tblPr/>
              <a:tblGrid>
                <a:gridCol w="274320"/>
                <a:gridCol w="3429000"/>
                <a:gridCol w="205740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B7A8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Dataset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B7A8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Question it answers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36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25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Heat stress (WBGT) observations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B7A8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NEA · live API · 30 stations, every 15 min, since Feb 2025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22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Heat now + what we predict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36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25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Air temperature &amp; relative humidity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B7A8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NEA · live API + yearly files 2016–2024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22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More hot seasons to learn from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36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25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24-hour forecast &amp; 4-day outlook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B7A8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NEA · live API + archives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22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NEA expects tomorrow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36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25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Census 2020: seniors 65+, flat type, living alone, mobility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B7A8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SingStat · by subzone or planning area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22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 lives there? How vulnerable?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36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125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Subzone map + Community Clubs &amp; public libraries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B7A8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URA · People’s Association · NLB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22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Nearest air-conditioned space?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 16"/>
          <p:cNvSpPr txBox="1"/>
          <p:nvPr/>
        </p:nvSpPr>
        <p:spPr>
          <a:xfrm>
            <a:off x="6629400" y="2395728"/>
            <a:ext cx="5013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FROM A GENERIC DASHBOARD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6629400" y="2679192"/>
            <a:ext cx="5013655" cy="512064"/>
          </a:xfrm>
          <a:prstGeom prst="roundRect">
            <a:avLst>
              <a:gd name="adj" fmla="val 14286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766560" y="2770632"/>
            <a:ext cx="329184" cy="329184"/>
          </a:xfrm>
          <a:prstGeom prst="ellipse">
            <a:avLst/>
          </a:prstGeom>
          <a:solidFill>
            <a:srgbClr val="112530"/>
          </a:solidFill>
          <a:ln w="12700">
            <a:solidFill>
              <a:srgbClr val="11253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856" y="2852928"/>
            <a:ext cx="164592" cy="16459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223760" y="2734056"/>
            <a:ext cx="42821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action list, not just a map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22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subzones, each with a reason and a suggested next step.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6629400" y="3282696"/>
            <a:ext cx="5013655" cy="512064"/>
          </a:xfrm>
          <a:prstGeom prst="roundRect">
            <a:avLst>
              <a:gd name="adj" fmla="val 14286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6766560" y="3374136"/>
            <a:ext cx="329184" cy="329184"/>
          </a:xfrm>
          <a:prstGeom prst="ellipse">
            <a:avLst/>
          </a:prstGeom>
          <a:solidFill>
            <a:srgbClr val="112530"/>
          </a:solidFill>
          <a:ln w="12700">
            <a:solidFill>
              <a:srgbClr val="112530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8856" y="3456432"/>
            <a:ext cx="164592" cy="164592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7223760" y="3337560"/>
            <a:ext cx="42821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Tomorrow, not today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22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Next-day heat-stress forecast, scored vs. a “same as today” baseline.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6629400" y="3886200"/>
            <a:ext cx="5013655" cy="676656"/>
          </a:xfrm>
          <a:prstGeom prst="roundRect">
            <a:avLst>
              <a:gd name="adj" fmla="val 10811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6766560" y="3977640"/>
            <a:ext cx="329184" cy="329184"/>
          </a:xfrm>
          <a:prstGeom prst="ellipse">
            <a:avLst/>
          </a:prstGeom>
          <a:solidFill>
            <a:srgbClr val="112530"/>
          </a:solidFill>
          <a:ln w="12700">
            <a:solidFill>
              <a:srgbClr val="112530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8856" y="4059936"/>
            <a:ext cx="164592" cy="164592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7223760" y="3941064"/>
            <a:ext cx="42821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about the data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22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checked every dataset (e.g. 16 temperature stations, not ~50) and show which inputs are estimates.</a:t>
            </a:r>
            <a:endParaRPr lang="en-US" sz="1200" dirty="0"/>
          </a:p>
        </p:txBody>
      </p:sp>
      <p:sp>
        <p:nvSpPr>
          <p:cNvPr id="35" name="Text 26"/>
          <p:cNvSpPr txBox="1"/>
          <p:nvPr/>
        </p:nvSpPr>
        <p:spPr>
          <a:xfrm>
            <a:off x="6629400" y="4690872"/>
            <a:ext cx="5013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Tomorrow’s check-in list</a:t>
            </a:r>
            <a:pPr indent="0" marL="0">
              <a:buNone/>
            </a:pPr>
            <a:r>
              <a:rPr lang="en-US" sz="900" i="1" dirty="0">
                <a:solidFill>
                  <a:srgbClr val="6B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illustrative example, not real output</a:t>
            </a:r>
            <a:endParaRPr lang="en-US" sz="115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4946904"/>
          <a:ext cx="5013655" cy="914400"/>
        </p:xfrm>
        <a:graphic>
          <a:graphicData uri="http://schemas.openxmlformats.org/drawingml/2006/table">
            <a:tbl>
              <a:tblPr/>
              <a:tblGrid>
                <a:gridCol w="201168"/>
                <a:gridCol w="914400"/>
                <a:gridCol w="713232"/>
                <a:gridCol w="1490472"/>
                <a:gridCol w="1694383"/>
              </a:tblGrid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6B7A8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6B7A8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Subzone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6B7A8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2–4 pm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6B7A8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6B7A8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Suggested action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Bedok North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3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Many seniors 65+ · many live alone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Call clients who live alone by 11 am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Toa Payoh Central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3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Many 1–2-room rental flats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Door-knock rental blocks; share CC hours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Jurong West Central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5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Nearest air-con space over 1 km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Offer escort to nearest CC or library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Text 27"/>
          <p:cNvSpPr txBox="1"/>
          <p:nvPr/>
        </p:nvSpPr>
        <p:spPr>
          <a:xfrm>
            <a:off x="6629400" y="6108192"/>
            <a:ext cx="5013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= tomorrow’s heat band × how vulnerable the area is. Actions come from a fixed rulebook, not AI.</a:t>
            </a:r>
            <a:endParaRPr lang="en-US" sz="850" dirty="0"/>
          </a:p>
        </p:txBody>
      </p:sp>
      <p:sp>
        <p:nvSpPr>
          <p:cNvPr id="38" name="Text 28"/>
          <p:cNvSpPr txBox="1"/>
          <p:nvPr/>
        </p:nvSpPr>
        <p:spPr>
          <a:xfrm>
            <a:off x="548640" y="640080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bands reuse NEA’s own Low / Moderate / High heat-stress categories. All datasets are open data from data.gov.sg.</a:t>
            </a:r>
            <a:endParaRPr lang="en-US" sz="800" dirty="0"/>
          </a:p>
        </p:txBody>
      </p:sp>
      <p:sp>
        <p:nvSpPr>
          <p:cNvPr id="39" name="Text 29"/>
          <p:cNvSpPr txBox="1"/>
          <p:nvPr/>
        </p:nvSpPr>
        <p:spPr>
          <a:xfrm>
            <a:off x="8899855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DAISI Challenge Singapore 2026  ·  2/3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 architecture &amp; impact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7132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1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HeatGuard</a:t>
            </a:r>
            <a:pPr algn="r" indent="0" marL="0">
              <a:buNone/>
            </a:pPr>
            <a:r>
              <a:rPr lang="en-US" sz="1400" dirty="0">
                <a:solidFill>
                  <a:srgbClr val="6B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B1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PIPELINE:  SOURCE → INGESTION → TRANSFORM → MODEL / ANALYTICS → OUTPUT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2011680" cy="1874520"/>
          </a:xfrm>
          <a:prstGeom prst="roundRect">
            <a:avLst>
              <a:gd name="adj" fmla="val 4878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46504"/>
            <a:ext cx="347472" cy="347472"/>
          </a:xfrm>
          <a:prstGeom prst="ellipse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" y="1833372"/>
            <a:ext cx="173736" cy="17373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24712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SOURCE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1762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data.gov.sg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2560320"/>
            <a:ext cx="17373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22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APIs: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2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stress, temperature, humidity, NEA forecasts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22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Files: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2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Census 2020, subzone map, CCs, libraries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 rot="5400000">
            <a:off x="2624328" y="2473452"/>
            <a:ext cx="137160" cy="182880"/>
          </a:xfrm>
          <a:prstGeom prst="triangle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819095" y="1627632"/>
            <a:ext cx="2011680" cy="1874520"/>
          </a:xfrm>
          <a:prstGeom prst="roundRect">
            <a:avLst>
              <a:gd name="adj" fmla="val 4878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956255" y="1746504"/>
            <a:ext cx="347472" cy="347472"/>
          </a:xfrm>
          <a:prstGeom prst="ellipse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3123" y="1833372"/>
            <a:ext cx="173736" cy="173736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395167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INGEST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2956255" y="21762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Lakeflow Jobs + Auto Loader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2956255" y="2560320"/>
            <a:ext cx="17373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2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pulls live readings every 15 min into a </a:t>
            </a:r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22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Catalog Volume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2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bronze Delta tables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 rot="5400000">
            <a:off x="4894783" y="2473452"/>
            <a:ext cx="137160" cy="182880"/>
          </a:xfrm>
          <a:prstGeom prst="triangle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089550" y="1627632"/>
            <a:ext cx="2011680" cy="1874520"/>
          </a:xfrm>
          <a:prstGeom prst="roundRect">
            <a:avLst>
              <a:gd name="adj" fmla="val 4878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226710" y="1746504"/>
            <a:ext cx="347472" cy="347472"/>
          </a:xfrm>
          <a:prstGeom prst="ellipse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3578" y="1833372"/>
            <a:ext cx="173736" cy="173736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5665622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TRANSFORM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5226710" y="21762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Lakeflow Declarative Pipeline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5226710" y="2560320"/>
            <a:ext cx="17373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22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checks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2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(missing, duplicate, impossible readings); </a:t>
            </a:r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22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SQL + H3: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2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stations → subzones, distance to nearest CC / library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 rot="5400000">
            <a:off x="7165238" y="2473452"/>
            <a:ext cx="137160" cy="182880"/>
          </a:xfrm>
          <a:prstGeom prst="triangle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360006" y="1627632"/>
            <a:ext cx="2011680" cy="1874520"/>
          </a:xfrm>
          <a:prstGeom prst="roundRect">
            <a:avLst>
              <a:gd name="adj" fmla="val 4878"/>
            </a:avLst>
          </a:prstGeom>
          <a:solidFill>
            <a:srgbClr val="112530"/>
          </a:solidFill>
          <a:ln w="12700">
            <a:solidFill>
              <a:srgbClr val="112530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7497166" y="1746504"/>
            <a:ext cx="347472" cy="347472"/>
          </a:xfrm>
          <a:prstGeom prst="ellipse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034" y="1833372"/>
            <a:ext cx="173736" cy="173736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7936078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8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MODEL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7497166" y="21762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7497166" y="2560320"/>
            <a:ext cx="17373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DCE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Tomorrow’s heat stress per station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DCE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Vulnerability score per subzone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DCE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Priority = heat × vulnerability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 rot="5400000">
            <a:off x="9435694" y="2473452"/>
            <a:ext cx="137160" cy="182880"/>
          </a:xfrm>
          <a:prstGeom prst="triangle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9630461" y="1627632"/>
            <a:ext cx="2011680" cy="1874520"/>
          </a:xfrm>
          <a:prstGeom prst="roundRect">
            <a:avLst>
              <a:gd name="adj" fmla="val 4878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9767621" y="1746504"/>
            <a:ext cx="347472" cy="347472"/>
          </a:xfrm>
          <a:prstGeom prst="ellipse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4489" y="1833372"/>
            <a:ext cx="173736" cy="173736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0206533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OUTPUT</a:t>
            </a:r>
            <a:endParaRPr lang="en-US" sz="1000" dirty="0"/>
          </a:p>
        </p:txBody>
      </p:sp>
      <p:sp>
        <p:nvSpPr>
          <p:cNvPr id="39" name="Text 32"/>
          <p:cNvSpPr txBox="1"/>
          <p:nvPr/>
        </p:nvSpPr>
        <p:spPr>
          <a:xfrm>
            <a:off x="9767621" y="21762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AI/BI + Genie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9767621" y="2560320"/>
            <a:ext cx="17373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22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3-tab dashboard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2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coordinators; </a:t>
            </a:r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22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Genie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2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answers plain-English questions; </a:t>
            </a:r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22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Model API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2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drafts advisories</a:t>
            </a:r>
            <a:endParaRPr lang="en-US" sz="950" dirty="0"/>
          </a:p>
        </p:txBody>
      </p:sp>
      <p:sp>
        <p:nvSpPr>
          <p:cNvPr id="41" name="Shape 34"/>
          <p:cNvSpPr/>
          <p:nvPr/>
        </p:nvSpPr>
        <p:spPr>
          <a:xfrm>
            <a:off x="548640" y="3621024"/>
            <a:ext cx="11094415" cy="365760"/>
          </a:xfrm>
          <a:prstGeom prst="roundRect">
            <a:avLst>
              <a:gd name="adj" fmla="val 20000"/>
            </a:avLst>
          </a:prstGeom>
          <a:solidFill>
            <a:srgbClr val="FFE9E5"/>
          </a:solidFill>
          <a:ln w="12700">
            <a:solidFill>
              <a:srgbClr val="FFE9E5"/>
            </a:solidFill>
            <a:prstDash val="solid"/>
          </a:ln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3703320"/>
            <a:ext cx="201168" cy="201168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1051560" y="3621024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Catalog governance:  </a:t>
            </a:r>
            <a:pPr indent="0" marL="0">
              <a:buNone/>
            </a:pPr>
            <a:r>
              <a:rPr lang="en-US" sz="1050" dirty="0">
                <a:solidFill>
                  <a:srgbClr val="22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lineage from raw API to final list · area-level data only, no personal data · every source and known gap documented</a:t>
            </a:r>
            <a:endParaRPr lang="en-US" sz="1050" dirty="0"/>
          </a:p>
        </p:txBody>
      </p:sp>
      <p:sp>
        <p:nvSpPr>
          <p:cNvPr id="44" name="Text 36"/>
          <p:cNvSpPr txBox="1"/>
          <p:nvPr/>
        </p:nvSpPr>
        <p:spPr>
          <a:xfrm>
            <a:off x="548640" y="415137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DASHBOARD WE WILL DEMO</a:t>
            </a:r>
            <a:endParaRPr lang="en-US" sz="1100" dirty="0"/>
          </a:p>
        </p:txBody>
      </p:sp>
      <p:sp>
        <p:nvSpPr>
          <p:cNvPr id="45" name="Shape 37"/>
          <p:cNvSpPr/>
          <p:nvPr/>
        </p:nvSpPr>
        <p:spPr>
          <a:xfrm>
            <a:off x="548640" y="4443984"/>
            <a:ext cx="4206240" cy="420624"/>
          </a:xfrm>
          <a:prstGeom prst="roundRect">
            <a:avLst>
              <a:gd name="adj" fmla="val 13043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640080" y="4544568"/>
            <a:ext cx="868680" cy="219456"/>
          </a:xfrm>
          <a:prstGeom prst="roundRect">
            <a:avLst>
              <a:gd name="adj" fmla="val 20833"/>
            </a:avLst>
          </a:prstGeom>
          <a:solidFill>
            <a:srgbClr val="112530"/>
          </a:solidFill>
          <a:ln w="12700">
            <a:solidFill>
              <a:srgbClr val="112530"/>
            </a:solidFill>
            <a:prstDash val="solid"/>
          </a:ln>
        </p:spPr>
      </p:sp>
      <p:sp>
        <p:nvSpPr>
          <p:cNvPr id="47" name="Text 39"/>
          <p:cNvSpPr txBox="1"/>
          <p:nvPr/>
        </p:nvSpPr>
        <p:spPr>
          <a:xfrm>
            <a:off x="640080" y="454456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850" dirty="0"/>
          </a:p>
        </p:txBody>
      </p:sp>
      <p:sp>
        <p:nvSpPr>
          <p:cNvPr id="48" name="Text 40"/>
          <p:cNvSpPr txBox="1"/>
          <p:nvPr/>
        </p:nvSpPr>
        <p:spPr>
          <a:xfrm>
            <a:off x="1600200" y="4443984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heat stress at 30 stations in NEA’s Low / Moderate / High bands, refreshed every 15 min.</a:t>
            </a:r>
            <a:endParaRPr lang="en-US" sz="950" dirty="0"/>
          </a:p>
        </p:txBody>
      </p:sp>
      <p:sp>
        <p:nvSpPr>
          <p:cNvPr id="49" name="Shape 41"/>
          <p:cNvSpPr/>
          <p:nvPr/>
        </p:nvSpPr>
        <p:spPr>
          <a:xfrm>
            <a:off x="548640" y="4919472"/>
            <a:ext cx="4206240" cy="420624"/>
          </a:xfrm>
          <a:prstGeom prst="roundRect">
            <a:avLst>
              <a:gd name="adj" fmla="val 13043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50" name="Shape 42"/>
          <p:cNvSpPr/>
          <p:nvPr/>
        </p:nvSpPr>
        <p:spPr>
          <a:xfrm>
            <a:off x="640080" y="5020056"/>
            <a:ext cx="868680" cy="219456"/>
          </a:xfrm>
          <a:prstGeom prst="roundRect">
            <a:avLst>
              <a:gd name="adj" fmla="val 20833"/>
            </a:avLst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sp>
        <p:nvSpPr>
          <p:cNvPr id="51" name="Text 43"/>
          <p:cNvSpPr txBox="1"/>
          <p:nvPr/>
        </p:nvSpPr>
        <p:spPr>
          <a:xfrm>
            <a:off x="640080" y="502005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TOMORROW</a:t>
            </a:r>
            <a:endParaRPr lang="en-US" sz="850" dirty="0"/>
          </a:p>
        </p:txBody>
      </p:sp>
      <p:sp>
        <p:nvSpPr>
          <p:cNvPr id="52" name="Text 44"/>
          <p:cNvSpPr txBox="1"/>
          <p:nvPr/>
        </p:nvSpPr>
        <p:spPr>
          <a:xfrm>
            <a:off x="1600200" y="4919472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Subzone risk map + the ranked check-in list, with a reason and a suggested action per area.</a:t>
            </a:r>
            <a:endParaRPr lang="en-US" sz="950" dirty="0"/>
          </a:p>
        </p:txBody>
      </p:sp>
      <p:sp>
        <p:nvSpPr>
          <p:cNvPr id="53" name="Shape 45"/>
          <p:cNvSpPr/>
          <p:nvPr/>
        </p:nvSpPr>
        <p:spPr>
          <a:xfrm>
            <a:off x="548640" y="5394960"/>
            <a:ext cx="4206240" cy="420624"/>
          </a:xfrm>
          <a:prstGeom prst="roundRect">
            <a:avLst>
              <a:gd name="adj" fmla="val 13043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54" name="Shape 46"/>
          <p:cNvSpPr/>
          <p:nvPr/>
        </p:nvSpPr>
        <p:spPr>
          <a:xfrm>
            <a:off x="640080" y="5495544"/>
            <a:ext cx="868680" cy="219456"/>
          </a:xfrm>
          <a:prstGeom prst="roundRect">
            <a:avLst>
              <a:gd name="adj" fmla="val 20833"/>
            </a:avLst>
          </a:prstGeom>
          <a:solidFill>
            <a:srgbClr val="112530"/>
          </a:solidFill>
          <a:ln w="12700">
            <a:solidFill>
              <a:srgbClr val="112530"/>
            </a:solidFill>
            <a:prstDash val="solid"/>
          </a:ln>
        </p:spPr>
      </p:sp>
      <p:sp>
        <p:nvSpPr>
          <p:cNvPr id="55" name="Text 47"/>
          <p:cNvSpPr txBox="1"/>
          <p:nvPr/>
        </p:nvSpPr>
        <p:spPr>
          <a:xfrm>
            <a:off x="640080" y="5495544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HERE?</a:t>
            </a:r>
            <a:endParaRPr lang="en-US" sz="850" dirty="0"/>
          </a:p>
        </p:txBody>
      </p:sp>
      <p:sp>
        <p:nvSpPr>
          <p:cNvPr id="56" name="Text 48"/>
          <p:cNvSpPr txBox="1"/>
          <p:nvPr/>
        </p:nvSpPr>
        <p:spPr>
          <a:xfrm>
            <a:off x="1600200" y="5394960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an area: what drove its rank, its nearest CC or library, and past forecast accuracy.</a:t>
            </a:r>
            <a:endParaRPr lang="en-US" sz="950" dirty="0"/>
          </a:p>
        </p:txBody>
      </p:sp>
      <p:sp>
        <p:nvSpPr>
          <p:cNvPr id="57" name="Text 49"/>
          <p:cNvSpPr txBox="1"/>
          <p:nvPr/>
        </p:nvSpPr>
        <p:spPr>
          <a:xfrm>
            <a:off x="548640" y="588873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1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Plus: </a:t>
            </a:r>
            <a:pPr indent="0" marL="0">
              <a:buNone/>
            </a:pPr>
            <a:r>
              <a:rPr lang="en-US" sz="950" dirty="0">
                <a:solidFill>
                  <a:srgbClr val="22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Genie “Which High subzones in Bedok are over 1 km from a CC?” and get advisory text in one click.</a:t>
            </a:r>
            <a:endParaRPr lang="en-US" sz="950" dirty="0"/>
          </a:p>
        </p:txBody>
      </p:sp>
      <p:sp>
        <p:nvSpPr>
          <p:cNvPr id="58" name="Text 50"/>
          <p:cNvSpPr txBox="1"/>
          <p:nvPr/>
        </p:nvSpPr>
        <p:spPr>
          <a:xfrm>
            <a:off x="5029200" y="4151376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IMPACT IF IT WORKED</a:t>
            </a:r>
            <a:endParaRPr lang="en-US" sz="1100" dirty="0"/>
          </a:p>
        </p:txBody>
      </p:sp>
      <p:sp>
        <p:nvSpPr>
          <p:cNvPr id="59" name="Text 51"/>
          <p:cNvSpPr txBox="1"/>
          <p:nvPr/>
        </p:nvSpPr>
        <p:spPr>
          <a:xfrm>
            <a:off x="5029200" y="4443984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22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~24 h lead time: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2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outreach planned the day before, not during the heat.</a:t>
            </a:r>
            <a:endParaRPr lang="en-US" sz="10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22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Focus: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2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top ~20 of ~330 subzones where high heat meets vulnerable seniors.</a:t>
            </a:r>
            <a:endParaRPr lang="en-US" sz="10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22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accuracy: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2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error vs. “same as today”, tracked in MLflow.</a:t>
            </a:r>
            <a:endParaRPr lang="en-US" sz="10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22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 to track: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2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heat-illness ED cases (398 in 2025).</a:t>
            </a:r>
            <a:endParaRPr lang="en-US" sz="1000" dirty="0"/>
          </a:p>
        </p:txBody>
      </p:sp>
      <p:sp>
        <p:nvSpPr>
          <p:cNvPr id="60" name="Text 52"/>
          <p:cNvSpPr txBox="1"/>
          <p:nvPr/>
        </p:nvSpPr>
        <p:spPr>
          <a:xfrm>
            <a:off x="8458200" y="4151376"/>
            <a:ext cx="3184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3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TWO-WEEK SPRINT PLAN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58200" y="4443984"/>
          <a:ext cx="3184855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61895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36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Days 1–2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Ingestion + history backfill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36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Days 3–5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Pipeline, subzone mapping, vulnerability score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36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Days 6–9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Forecast model + baseline in MLflow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36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Days 10–12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Dashboard, Genie, advisories, governance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36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Days 13–14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End-to-end test, backup recording, pitch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2" name="Text 53"/>
          <p:cNvSpPr txBox="1"/>
          <p:nvPr/>
        </p:nvSpPr>
        <p:spPr>
          <a:xfrm>
            <a:off x="548640" y="640080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Databricks Free Edition: one Lakeflow pipeline and one serverless SQL warehouse, within free-tier quotas.</a:t>
            </a:r>
            <a:endParaRPr lang="en-US" sz="800" dirty="0"/>
          </a:p>
        </p:txBody>
      </p:sp>
      <p:sp>
        <p:nvSpPr>
          <p:cNvPr id="63" name="Text 54"/>
          <p:cNvSpPr txBox="1"/>
          <p:nvPr/>
        </p:nvSpPr>
        <p:spPr>
          <a:xfrm>
            <a:off x="8899855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DAISI Challenge Singapore 2026  ·  3/3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HeatGuard — DAISI Round 1</dc:title>
  <dc:subject>PptxGenJS Presentation</dc:subject>
  <dc:creator>PptxGenJS</dc:creator>
  <cp:lastModifiedBy>PptxGenJS</cp:lastModifiedBy>
  <cp:revision>1</cp:revision>
  <dcterms:created xsi:type="dcterms:W3CDTF">2026-09-29T03:26:37Z</dcterms:created>
  <dcterms:modified xsi:type="dcterms:W3CDTF">2026-09-29T03:26:37Z</dcterms:modified>
</cp:coreProperties>
</file>